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81E3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4297680"/>
            <a:ext cx="9144000" cy="845820"/>
          </a:xfrm>
          <a:prstGeom prst="rect">
            <a:avLst/>
          </a:prstGeom>
          <a:solidFill>
            <a:srgbClr val="00788A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7132320" y="-1097280"/>
            <a:ext cx="3200400" cy="3200400"/>
          </a:xfrm>
          <a:prstGeom prst="ellipse">
            <a:avLst/>
          </a:prstGeom>
          <a:solidFill>
            <a:srgbClr val="00A5BA"/>
          </a:solidFill>
          <a:ln w="12700">
            <a:solidFill>
              <a:srgbClr val="00A5BA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7680960" y="-365760"/>
            <a:ext cx="1828800" cy="1828800"/>
          </a:xfrm>
          <a:prstGeom prst="ellipse">
            <a:avLst/>
          </a:prstGeom>
          <a:solidFill>
            <a:srgbClr val="00788A"/>
          </a:solidFill>
          <a:ln w="12700">
            <a:solidFill>
              <a:srgbClr val="00788A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457200" y="1097280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spc="400" kern="0" dirty="0">
                <a:solidFill>
                  <a:srgbClr val="00A5BA"/>
                </a:solidFill>
              </a:rPr>
              <a:t>CORNERSTONE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457200" y="173736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PDK Monitor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457200" y="260604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D0EBF2"/>
                </a:solidFill>
              </a:rPr>
              <a:t>Introduction &amp; First-Time Use Guide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7200" y="315468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8FA8"/>
                </a:solidFill>
              </a:rPr>
              <a:t>Open-source · Browser-based · No installation required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74320" y="4389120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Emre Kaplan · University of Southampton · CORNERSTONE PDK Team · v1.1.1 · May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B2A4A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What is the CORNERSTONE PDK Monitor?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2A4A"/>
                </a:solidFill>
              </a:rPr>
              <a:t>A free, open-source, single-file web dashboard for managing and sharing </a:t>
            </a:r>
            <a:pPr indent="0" marL="0">
              <a:buNone/>
            </a:pPr>
            <a:r>
              <a:rPr lang="en-US" sz="1300" b="1" dirty="0">
                <a:solidFill>
                  <a:srgbClr val="00788A"/>
                </a:solidFill>
              </a:rPr>
              <a:t>integrated photonics PDKs</a:t>
            </a:r>
            <a:pPr indent="0" marL="0">
              <a:buNone/>
            </a:pPr>
            <a:r>
              <a:rPr lang="en-US" sz="1300" dirty="0">
                <a:solidFill>
                  <a:srgbClr val="0B2A4A"/>
                </a:solidFill>
              </a:rPr>
              <a:t>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572768"/>
            <a:ext cx="347472" cy="347472"/>
          </a:xfrm>
          <a:prstGeom prst="ellipse">
            <a:avLst/>
          </a:prstGeom>
          <a:solidFill>
            <a:srgbClr val="00788A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365760" y="15727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  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04672" y="1572768"/>
            <a:ext cx="448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788A"/>
                </a:solidFill>
              </a:rPr>
              <a:t>Discover &amp; browse </a:t>
            </a:r>
            <a:pPr indent="0" marL="0">
              <a:buNone/>
            </a:pPr>
            <a:r>
              <a:rPr lang="en-US" sz="1200" dirty="0">
                <a:solidFill>
                  <a:srgbClr val="0B2A4A"/>
                </a:solidFill>
              </a:rPr>
              <a:t>building blocks across SOI, TFLN, and SiN platforms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2103120"/>
            <a:ext cx="347472" cy="347472"/>
          </a:xfrm>
          <a:prstGeom prst="ellipse">
            <a:avLst/>
          </a:prstGeom>
          <a:solidFill>
            <a:srgbClr val="00788A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365760" y="21031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  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04672" y="2103120"/>
            <a:ext cx="448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788A"/>
                </a:solidFill>
              </a:rPr>
              <a:t>Upload &amp; link </a:t>
            </a:r>
            <a:pPr indent="0" marL="0">
              <a:buNone/>
            </a:pPr>
            <a:r>
              <a:rPr lang="en-US" sz="1200" dirty="0">
                <a:solidFill>
                  <a:srgbClr val="0B2A4A"/>
                </a:solidFill>
              </a:rPr>
              <a:t>GDS layouts, S-parameters, scripts, and test data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65760" y="2633472"/>
            <a:ext cx="347472" cy="347472"/>
          </a:xfrm>
          <a:prstGeom prst="ellipse">
            <a:avLst/>
          </a:prstGeom>
          <a:solidFill>
            <a:srgbClr val="00788A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365760" y="26334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  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04672" y="2633472"/>
            <a:ext cx="448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788A"/>
                </a:solidFill>
              </a:rPr>
              <a:t>Collaborate </a:t>
            </a:r>
            <a:pPr indent="0" marL="0">
              <a:buNone/>
            </a:pPr>
            <a:r>
              <a:rPr lang="en-US" sz="1200" dirty="0">
                <a:solidFill>
                  <a:srgbClr val="0B2A4A"/>
                </a:solidFill>
              </a:rPr>
              <a:t>via GitHub — fetch, merge, and publish team contributions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65760" y="3163824"/>
            <a:ext cx="347472" cy="347472"/>
          </a:xfrm>
          <a:prstGeom prst="ellipse">
            <a:avLst/>
          </a:prstGeom>
          <a:solidFill>
            <a:srgbClr val="00788A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365760" y="316382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  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04672" y="3163824"/>
            <a:ext cx="448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788A"/>
                </a:solidFill>
              </a:rPr>
              <a:t>AI-powered </a:t>
            </a:r>
            <a:pPr indent="0" marL="0">
              <a:buNone/>
            </a:pPr>
            <a:r>
              <a:rPr lang="en-US" sz="1200" dirty="0">
                <a:solidFill>
                  <a:srgbClr val="0B2A4A"/>
                </a:solidFill>
              </a:rPr>
              <a:t>BB summaries, chat agent, and data analysis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65760" y="3694176"/>
            <a:ext cx="347472" cy="347472"/>
          </a:xfrm>
          <a:prstGeom prst="ellipse">
            <a:avLst/>
          </a:prstGeom>
          <a:solidFill>
            <a:srgbClr val="00788A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365760" y="369417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  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04672" y="3694176"/>
            <a:ext cx="448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788A"/>
                </a:solidFill>
              </a:rPr>
              <a:t>Open to all </a:t>
            </a:r>
            <a:pPr indent="0" marL="0">
              <a:buNone/>
            </a:pPr>
            <a:r>
              <a:rPr lang="en-US" sz="1200" dirty="0">
                <a:solidFill>
                  <a:srgbClr val="0B2A4A"/>
                </a:solidFill>
              </a:rPr>
              <a:t>researchers, engineers, and students worldwide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577840" y="841248"/>
            <a:ext cx="3291840" cy="4023360"/>
          </a:xfrm>
          <a:prstGeom prst="roundRect">
            <a:avLst>
              <a:gd name="adj" fmla="val 2778"/>
            </a:avLst>
          </a:prstGeom>
          <a:solidFill>
            <a:srgbClr val="F0F7FA"/>
          </a:solidFill>
          <a:ln w="12700">
            <a:solidFill>
              <a:srgbClr val="D0EBF2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5577840" y="841248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788A"/>
                </a:solidFill>
              </a:rPr>
              <a:t>Gateway between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0788A"/>
                </a:solidFill>
              </a:rPr>
              <a:t>Designers &amp; Foundries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760720" y="1719072"/>
            <a:ext cx="2926080" cy="749808"/>
          </a:xfrm>
          <a:prstGeom prst="roundRect">
            <a:avLst>
              <a:gd name="adj" fmla="val 7317"/>
            </a:avLst>
          </a:prstGeom>
          <a:solidFill>
            <a:srgbClr val="00788A"/>
          </a:solidFill>
          <a:ln w="12700">
            <a:solidFill>
              <a:srgbClr val="00788A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5760720" y="1719072"/>
            <a:ext cx="2926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Designer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760720" y="2066544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DEEFF"/>
                </a:solidFill>
              </a:rPr>
              <a:t>Uses PDKs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760720" y="2724912"/>
            <a:ext cx="2926080" cy="749808"/>
          </a:xfrm>
          <a:prstGeom prst="roundRect">
            <a:avLst>
              <a:gd name="adj" fmla="val 7317"/>
            </a:avLst>
          </a:prstGeom>
          <a:solidFill>
            <a:srgbClr val="0B2A4A"/>
          </a:solidFill>
          <a:ln w="12700">
            <a:solidFill>
              <a:srgbClr val="0B2A4A"/>
            </a:solidFill>
            <a:prstDash val="solid"/>
          </a:ln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5760720" y="2724912"/>
            <a:ext cx="2926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Foundry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760720" y="3072384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DEEFF"/>
                </a:solidFill>
              </a:rPr>
              <a:t>Supplies PDKs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760720" y="3730752"/>
            <a:ext cx="2926080" cy="749808"/>
          </a:xfrm>
          <a:prstGeom prst="roundRect">
            <a:avLst>
              <a:gd name="adj" fmla="val 7317"/>
            </a:avLst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5760720" y="3730752"/>
            <a:ext cx="2926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Community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5760720" y="4078224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DEEFF"/>
                </a:solidFill>
              </a:rPr>
              <a:t>Contributes BBs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577840" y="466344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B8FA8"/>
                </a:solidFill>
              </a:rPr>
              <a:t>No installation · Open HTML file in browser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B2A4A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First-Time Use — Steps 1 to 4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841248"/>
            <a:ext cx="4206240" cy="1828800"/>
          </a:xfrm>
          <a:prstGeom prst="roundRect">
            <a:avLst>
              <a:gd name="adj" fmla="val 4000"/>
            </a:avLst>
          </a:prstGeom>
          <a:solidFill>
            <a:srgbClr val="F0F7FA"/>
          </a:solidFill>
          <a:ln w="19050">
            <a:solidFill>
              <a:srgbClr val="00788A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429768" y="969264"/>
            <a:ext cx="384048" cy="384048"/>
          </a:xfrm>
          <a:prstGeom prst="ellipse">
            <a:avLst/>
          </a:prstGeom>
          <a:solidFill>
            <a:srgbClr val="00788A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429768" y="9692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86968" y="969264"/>
            <a:ext cx="35295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A4A"/>
                </a:solidFill>
              </a:rPr>
              <a:t>Open the dashboard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84632" y="1408176"/>
            <a:ext cx="393192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8FA8"/>
                </a:solidFill>
              </a:rPr>
              <a:t>Double-click pdk-monitor.html in any modern browser (Chrome, Firefox, Safari). No server or installation needed.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54880" y="841248"/>
            <a:ext cx="4206240" cy="1828800"/>
          </a:xfrm>
          <a:prstGeom prst="roundRect">
            <a:avLst>
              <a:gd name="adj" fmla="val 4000"/>
            </a:avLst>
          </a:prstGeom>
          <a:solidFill>
            <a:srgbClr val="F0F7FA"/>
          </a:solidFill>
          <a:ln w="19050">
            <a:solidFill>
              <a:srgbClr val="00788A"/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4864608" y="969264"/>
            <a:ext cx="384048" cy="384048"/>
          </a:xfrm>
          <a:prstGeom prst="ellipse">
            <a:avLst/>
          </a:prstGeom>
          <a:solidFill>
            <a:srgbClr val="00788A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864608" y="9692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321808" y="969264"/>
            <a:ext cx="35295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A4A"/>
                </a:solidFill>
              </a:rPr>
              <a:t>Accept the licence terms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919472" y="1408176"/>
            <a:ext cx="393192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8FA8"/>
                </a:solidFill>
              </a:rPr>
              <a:t>On first launch, a terms gate appears. Read and accept the TAPR Open Hardware Licence v1.0 to proceed.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0040" y="2807208"/>
            <a:ext cx="4206240" cy="1828800"/>
          </a:xfrm>
          <a:prstGeom prst="roundRect">
            <a:avLst>
              <a:gd name="adj" fmla="val 4000"/>
            </a:avLst>
          </a:prstGeom>
          <a:solidFill>
            <a:srgbClr val="F0F7FA"/>
          </a:solidFill>
          <a:ln w="19050">
            <a:solidFill>
              <a:srgbClr val="00788A"/>
            </a:solidFill>
            <a:prstDash val="solid"/>
          </a:ln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429768" y="2935224"/>
            <a:ext cx="384048" cy="384048"/>
          </a:xfrm>
          <a:prstGeom prst="ellipse">
            <a:avLst/>
          </a:prstGeom>
          <a:solidFill>
            <a:srgbClr val="00788A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429768" y="29352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86968" y="2935224"/>
            <a:ext cx="35295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A4A"/>
                </a:solidFill>
              </a:rPr>
              <a:t>Explore the pre-loaded PDK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84632" y="3374136"/>
            <a:ext cx="393192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8FA8"/>
                </a:solidFill>
              </a:rPr>
              <a:t>Browse 9 platform tabs with 94 CORNERSTONE building blocks — waveguides, MMIs, grating couplers, modulators, and more.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754880" y="2807208"/>
            <a:ext cx="4206240" cy="1828800"/>
          </a:xfrm>
          <a:prstGeom prst="roundRect">
            <a:avLst>
              <a:gd name="adj" fmla="val 4000"/>
            </a:avLst>
          </a:prstGeom>
          <a:solidFill>
            <a:srgbClr val="F0F7FA"/>
          </a:solidFill>
          <a:ln w="19050">
            <a:solidFill>
              <a:srgbClr val="00788A"/>
            </a:solidFill>
            <a:prstDash val="solid"/>
          </a:ln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4864608" y="2935224"/>
            <a:ext cx="384048" cy="384048"/>
          </a:xfrm>
          <a:prstGeom prst="ellipse">
            <a:avLst/>
          </a:prstGeom>
          <a:solidFill>
            <a:srgbClr val="00788A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4864608" y="29352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321808" y="2935224"/>
            <a:ext cx="35295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A4A"/>
                </a:solidFill>
              </a:rPr>
              <a:t>Switch to Admin mode (to edit)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919472" y="3374136"/>
            <a:ext cx="393192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8FA8"/>
                </a:solidFill>
              </a:rPr>
              <a:t>By default you are in Read-only mode. Open the HTML in a text editor and follow the comment at the top of the &lt;script&gt; block to enable Admin.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B2A4A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First-Time Use — Steps 5 to 7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841248"/>
            <a:ext cx="4206240" cy="1828800"/>
          </a:xfrm>
          <a:prstGeom prst="roundRect">
            <a:avLst>
              <a:gd name="adj" fmla="val 4000"/>
            </a:avLst>
          </a:prstGeom>
          <a:solidFill>
            <a:srgbClr val="F0F7FA"/>
          </a:solidFill>
          <a:ln w="19050">
            <a:solidFill>
              <a:srgbClr val="00788A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429768" y="969264"/>
            <a:ext cx="384048" cy="384048"/>
          </a:xfrm>
          <a:prstGeom prst="ellipse">
            <a:avLst/>
          </a:prstGeom>
          <a:solidFill>
            <a:srgbClr val="00788A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429768" y="9692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86968" y="969264"/>
            <a:ext cx="35295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A4A"/>
                </a:solidFill>
              </a:rPr>
              <a:t>Connect to GitHub (optional)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84632" y="1408176"/>
            <a:ext cx="393192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8FA8"/>
                </a:solidFill>
              </a:rPr>
              <a:t>Click 🐙 in the header. Paste a GitHub Personal Access Token (PAT) with repo scope. This enables pool fetching, publishing, and the AI file fetcher.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54880" y="841248"/>
            <a:ext cx="4206240" cy="1828800"/>
          </a:xfrm>
          <a:prstGeom prst="roundRect">
            <a:avLst>
              <a:gd name="adj" fmla="val 4000"/>
            </a:avLst>
          </a:prstGeom>
          <a:solidFill>
            <a:srgbClr val="F0F7FA"/>
          </a:solidFill>
          <a:ln w="19050">
            <a:solidFill>
              <a:srgbClr val="00788A"/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4864608" y="969264"/>
            <a:ext cx="384048" cy="384048"/>
          </a:xfrm>
          <a:prstGeom prst="ellipse">
            <a:avLst/>
          </a:prstGeom>
          <a:solidFill>
            <a:srgbClr val="00788A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864608" y="9692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6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321808" y="969264"/>
            <a:ext cx="35295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A4A"/>
                </a:solidFill>
              </a:rPr>
              <a:t>Configure the AI Agent (optional)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919472" y="1408176"/>
            <a:ext cx="393192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8FA8"/>
                </a:solidFill>
              </a:rPr>
              <a:t>Click 🧠 Insight → ⚙ Settings. Enter your Anthropic or OpenAI API key. Click 🔌 Test connection. The agent can then summarise BBs and analyse data files.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0040" y="2807208"/>
            <a:ext cx="4206240" cy="1828800"/>
          </a:xfrm>
          <a:prstGeom prst="roundRect">
            <a:avLst>
              <a:gd name="adj" fmla="val 4000"/>
            </a:avLst>
          </a:prstGeom>
          <a:solidFill>
            <a:srgbClr val="F0F7FA"/>
          </a:solidFill>
          <a:ln w="19050">
            <a:solidFill>
              <a:srgbClr val="00788A"/>
            </a:solidFill>
            <a:prstDash val="solid"/>
          </a:ln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429768" y="2935224"/>
            <a:ext cx="384048" cy="384048"/>
          </a:xfrm>
          <a:prstGeom prst="ellipse">
            <a:avLst/>
          </a:prstGeom>
          <a:solidFill>
            <a:srgbClr val="00788A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429768" y="29352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7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86968" y="2935224"/>
            <a:ext cx="35295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A4A"/>
                </a:solidFill>
              </a:rPr>
              <a:t>Import your own data (optional)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84632" y="3374136"/>
            <a:ext cx="393192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8FA8"/>
                </a:solidFill>
              </a:rPr>
              <a:t>Click Import in the header to load your own dashboard.json. This replaces the default data with your team's configuration.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20040" y="4663440"/>
            <a:ext cx="8503920" cy="411480"/>
          </a:xfrm>
          <a:prstGeom prst="roundRect">
            <a:avLst>
              <a:gd name="adj" fmla="val 13333"/>
            </a:avLst>
          </a:prstGeom>
          <a:solidFill>
            <a:srgbClr val="00788A"/>
          </a:solidFill>
          <a:ln w="12700">
            <a:solidFill>
              <a:srgbClr val="00788A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320040" y="4663440"/>
            <a:ext cx="8503920" cy="411480"/>
          </a:xfrm>
          <a:prstGeom prst="rect">
            <a:avLst/>
          </a:prstGeom>
          <a:noFill/>
          <a:ln/>
        </p:spPr>
        <p:txBody>
          <a:bodyPr wrap="square" lIns="0" tIns="0" rIns="1524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💡  Tip: All data is stored locally in your browser. Use Backup (.json) regularly or publish to GitHub to keep your data safe.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0788A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Key Features at a Glance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822960"/>
            <a:ext cx="2651760" cy="1783080"/>
          </a:xfrm>
          <a:prstGeom prst="roundRect">
            <a:avLst>
              <a:gd name="adj" fmla="val 4103"/>
            </a:avLst>
          </a:prstGeom>
          <a:solidFill>
            <a:srgbClr val="F0F7FA"/>
          </a:solidFill>
          <a:ln w="12700">
            <a:solidFill>
              <a:srgbClr val="D0EBF2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320040" y="950976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TABS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11480" y="1325880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2A4A"/>
                </a:solidFill>
              </a:rPr>
              <a:t>Platform Tabs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29768" y="1664208"/>
            <a:ext cx="2432304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8FA8"/>
                </a:solidFill>
              </a:rPr>
              <a:t>6 platforms pre-loaded: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B8FA8"/>
                </a:solidFill>
              </a:rPr>
              <a:t>SOI 220/340/500 nm,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B8FA8"/>
                </a:solidFill>
              </a:rPr>
              <a:t>TFLN 300 nm, SiN 300/200 nm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136392" y="822960"/>
            <a:ext cx="2651760" cy="1783080"/>
          </a:xfrm>
          <a:prstGeom prst="roundRect">
            <a:avLst>
              <a:gd name="adj" fmla="val 4103"/>
            </a:avLst>
          </a:prstGeom>
          <a:solidFill>
            <a:srgbClr val="F0F7FA"/>
          </a:solidFill>
          <a:ln w="12700">
            <a:solidFill>
              <a:srgbClr val="D0EBF2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3136392" y="950976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BBs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227832" y="1325880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2A4A"/>
                </a:solidFill>
              </a:rPr>
              <a:t>BB Cards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246120" y="1664208"/>
            <a:ext cx="2432304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8FA8"/>
                </a:solidFill>
              </a:rPr>
              <a:t>Status, material, EDA tools,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B8FA8"/>
                </a:solidFill>
              </a:rPr>
              <a:t>CDI maturity, file count,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B8FA8"/>
                </a:solidFill>
              </a:rPr>
              <a:t>and contributor shown at a glance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952744" y="822960"/>
            <a:ext cx="2651760" cy="1783080"/>
          </a:xfrm>
          <a:prstGeom prst="roundRect">
            <a:avLst>
              <a:gd name="adj" fmla="val 4103"/>
            </a:avLst>
          </a:prstGeom>
          <a:solidFill>
            <a:srgbClr val="F0F7FA"/>
          </a:solidFill>
          <a:ln w="12700">
            <a:solidFill>
              <a:srgbClr val="D0EBF2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5952744" y="950976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FILE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6044184" y="1325880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2A4A"/>
                </a:solidFill>
              </a:rPr>
              <a:t>File Viewer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062472" y="1664208"/>
            <a:ext cx="2432304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8FA8"/>
                </a:solidFill>
              </a:rPr>
              <a:t>GDS layout preview,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B8FA8"/>
                </a:solidFill>
              </a:rPr>
              <a:t>S-matrix plots, Python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B8FA8"/>
                </a:solidFill>
              </a:rPr>
              <a:t>script runner (Pyodide)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20040" y="2734056"/>
            <a:ext cx="2651760" cy="1783080"/>
          </a:xfrm>
          <a:prstGeom prst="roundRect">
            <a:avLst>
              <a:gd name="adj" fmla="val 4103"/>
            </a:avLst>
          </a:prstGeom>
          <a:solidFill>
            <a:srgbClr val="F0F7FA"/>
          </a:solidFill>
          <a:ln w="12700">
            <a:solidFill>
              <a:srgbClr val="D0EBF2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320040" y="2862072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POOL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411480" y="3236976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2A4A"/>
                </a:solidFill>
              </a:rPr>
              <a:t>Pool &amp; Publish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29768" y="3575304"/>
            <a:ext cx="2432304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8FA8"/>
                </a:solidFill>
              </a:rPr>
              <a:t>Fetch community contributions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B8FA8"/>
                </a:solidFill>
              </a:rPr>
              <a:t>via GitHub. Merge or replace.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B8FA8"/>
                </a:solidFill>
              </a:rPr>
              <a:t>Publish your own slice.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136392" y="2734056"/>
            <a:ext cx="2651760" cy="1783080"/>
          </a:xfrm>
          <a:prstGeom prst="roundRect">
            <a:avLst>
              <a:gd name="adj" fmla="val 4103"/>
            </a:avLst>
          </a:prstGeom>
          <a:solidFill>
            <a:srgbClr val="F0F7FA"/>
          </a:solidFill>
          <a:ln w="12700">
            <a:solidFill>
              <a:srgbClr val="D0EBF2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3136392" y="2862072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AI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3227832" y="3236976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2A4A"/>
                </a:solidFill>
              </a:rPr>
              <a:t>AI Agent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246120" y="3575304"/>
            <a:ext cx="2432304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8FA8"/>
                </a:solidFill>
              </a:rPr>
              <a:t>Chat with your PDK,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B8FA8"/>
                </a:solidFill>
              </a:rPr>
              <a:t>summarise BBs, fetch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B8FA8"/>
                </a:solidFill>
              </a:rPr>
              <a:t>and analyse data files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952744" y="2734056"/>
            <a:ext cx="2651760" cy="1783080"/>
          </a:xfrm>
          <a:prstGeom prst="roundRect">
            <a:avLst>
              <a:gd name="adj" fmla="val 4103"/>
            </a:avLst>
          </a:prstGeom>
          <a:solidFill>
            <a:srgbClr val="F0F7FA"/>
          </a:solidFill>
          <a:ln w="12700">
            <a:solidFill>
              <a:srgbClr val="D0EBF2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5952744" y="2862072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DATA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6044184" y="3236976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2A4A"/>
                </a:solidFill>
              </a:rPr>
              <a:t>Data Analyser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062472" y="3575304"/>
            <a:ext cx="2432304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8FA8"/>
                </a:solidFill>
              </a:rPr>
              <a:t>CSV stats, outlier detection,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B8FA8"/>
                </a:solidFill>
              </a:rPr>
              <a:t>JSON/YAML schema review —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B8FA8"/>
                </a:solidFill>
              </a:rPr>
              <a:t>all client-side, no tokens wasted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81E33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65760" y="0"/>
            <a:ext cx="6400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AI Insight Agent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858000" y="137160"/>
            <a:ext cx="1645920" cy="402336"/>
          </a:xfrm>
          <a:prstGeom prst="rect">
            <a:avLst/>
          </a:prstGeom>
          <a:solidFill>
            <a:srgbClr val="00A5B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81E33"/>
                </a:solidFill>
              </a:rPr>
              <a:t>✦ NEW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914400"/>
            <a:ext cx="384048" cy="384048"/>
          </a:xfrm>
          <a:prstGeom prst="ellipse">
            <a:avLst/>
          </a:prstGeom>
          <a:solidFill>
            <a:srgbClr val="00788A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320040" y="9144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CFG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04672" y="84124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A4A"/>
                </a:solidFill>
              </a:rPr>
              <a:t>Configure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04672" y="1207008"/>
            <a:ext cx="3840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8FA8"/>
                </a:solidFill>
              </a:rPr>
              <a:t>🧠 Insight → ⚙ Settings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B8FA8"/>
                </a:solidFill>
              </a:rPr>
              <a:t>Enter API key (Anthropic / OpenAI / Ollama)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B8FA8"/>
                </a:solidFill>
              </a:rPr>
              <a:t>Click 🔌 Test connection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0040" y="1938528"/>
            <a:ext cx="384048" cy="384048"/>
          </a:xfrm>
          <a:prstGeom prst="ellipse">
            <a:avLst/>
          </a:prstGeom>
          <a:solidFill>
            <a:srgbClr val="00788A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20040" y="19385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CHAT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04672" y="1865376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A4A"/>
                </a:solidFill>
              </a:rPr>
              <a:t>Chat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04672" y="2231136"/>
            <a:ext cx="3840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8FA8"/>
                </a:solidFill>
              </a:rPr>
              <a:t>Ask anything: 'List MMIs on SOI 220 nm'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B8FA8"/>
                </a:solidFill>
              </a:rPr>
              <a:t>'Which BBs have no S-matrix data?'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B8FA8"/>
                </a:solidFill>
              </a:rPr>
              <a:t>'Summarise the grating coupler'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20040" y="2962656"/>
            <a:ext cx="384048" cy="384048"/>
          </a:xfrm>
          <a:prstGeom prst="ellipse">
            <a:avLst/>
          </a:prstGeom>
          <a:solidFill>
            <a:srgbClr val="00788A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320040" y="29626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FTCH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04672" y="2889504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A4A"/>
                </a:solidFill>
              </a:rPr>
              <a:t>Fetch files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04672" y="3255264"/>
            <a:ext cx="3840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8FA8"/>
                </a:solidFill>
              </a:rPr>
              <a:t>Paste a GitHub URL (file, folder, or multi-URL)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B8FA8"/>
                </a:solidFill>
              </a:rPr>
              <a:t>Files load into context for analysis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B8FA8"/>
                </a:solidFill>
              </a:rPr>
              <a:t>Folds into chat for follow-up questions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20040" y="3986784"/>
            <a:ext cx="384048" cy="384048"/>
          </a:xfrm>
          <a:prstGeom prst="ellipse">
            <a:avLst/>
          </a:prstGeom>
          <a:solidFill>
            <a:srgbClr val="00788A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320040" y="39867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ANLZ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04672" y="3913632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A4A"/>
                </a:solidFill>
              </a:rPr>
              <a:t>Analyse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04672" y="4279392"/>
            <a:ext cx="3840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8FA8"/>
                </a:solidFill>
              </a:rPr>
              <a:t>Click 🔬 Analyse files with AI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B8FA8"/>
                </a:solidFill>
              </a:rPr>
              <a:t>Client-side stats: outliers, correlations,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B8FA8"/>
                </a:solidFill>
              </a:rPr>
              <a:t>null%, column types — no tokens wasted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120640" y="822960"/>
            <a:ext cx="3749040" cy="4114800"/>
          </a:xfrm>
          <a:prstGeom prst="roundRect">
            <a:avLst>
              <a:gd name="adj" fmla="val 2439"/>
            </a:avLst>
          </a:prstGeom>
          <a:solidFill>
            <a:srgbClr val="F0F7FA"/>
          </a:solidFill>
          <a:ln w="12700">
            <a:solidFill>
              <a:srgbClr val="D0EBF2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5120640" y="822960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2A4A"/>
                </a:solidFill>
              </a:rPr>
              <a:t>Compatible AI Endpoints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303520" y="1371600"/>
            <a:ext cx="3383280" cy="566928"/>
          </a:xfrm>
          <a:prstGeom prst="roundRect">
            <a:avLst>
              <a:gd name="adj" fmla="val 8065"/>
            </a:avLst>
          </a:prstGeom>
          <a:solidFill>
            <a:srgbClr val="E8F4F8"/>
          </a:solidFill>
          <a:ln w="12700">
            <a:solidFill>
              <a:srgbClr val="00788A"/>
            </a:solidFill>
            <a:prstDash val="solid"/>
          </a:ln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5394960" y="138988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788A"/>
                </a:solidFill>
              </a:rPr>
              <a:t>Anthropic Claude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394960" y="1664208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8FA8"/>
                </a:solidFill>
              </a:rPr>
              <a:t>claude-sonnet-4-5, claude-opus-4-5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303520" y="2029968"/>
            <a:ext cx="3383280" cy="566928"/>
          </a:xfrm>
          <a:prstGeom prst="roundRect">
            <a:avLst>
              <a:gd name="adj" fmla="val 8065"/>
            </a:avLst>
          </a:prstGeom>
          <a:solidFill>
            <a:srgbClr val="E8F4F8"/>
          </a:solidFill>
          <a:ln w="12700">
            <a:solidFill>
              <a:srgbClr val="10A37F"/>
            </a:solidFill>
            <a:prstDash val="solid"/>
          </a:ln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5394960" y="204825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A37F"/>
                </a:solidFill>
              </a:rPr>
              <a:t>OpenAI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394960" y="2322576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8FA8"/>
                </a:solidFill>
              </a:rPr>
              <a:t>gpt-4o, gpt-4-turbo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5303520" y="2688336"/>
            <a:ext cx="3383280" cy="566928"/>
          </a:xfrm>
          <a:prstGeom prst="roundRect">
            <a:avLst>
              <a:gd name="adj" fmla="val 8065"/>
            </a:avLst>
          </a:prstGeom>
          <a:solidFill>
            <a:srgbClr val="E8F4F8"/>
          </a:solidFill>
          <a:ln w="12700">
            <a:solidFill>
              <a:srgbClr val="6B46C1"/>
            </a:solidFill>
            <a:prstDash val="solid"/>
          </a:ln>
        </p:spPr>
        <p:txBody>
          <a:bodyPr/>
          <a:p/>
        </p:txBody>
      </p:sp>
      <p:sp>
        <p:nvSpPr>
          <p:cNvPr id="30" name="Text 28"/>
          <p:cNvSpPr/>
          <p:nvPr/>
        </p:nvSpPr>
        <p:spPr>
          <a:xfrm>
            <a:off x="5394960" y="270662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46C1"/>
                </a:solidFill>
              </a:rPr>
              <a:t>Ollama (local)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394960" y="2980944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8FA8"/>
                </a:solidFill>
              </a:rPr>
              <a:t>llama3, mistral, etc.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5303520" y="3346704"/>
            <a:ext cx="3383280" cy="566928"/>
          </a:xfrm>
          <a:prstGeom prst="roundRect">
            <a:avLst>
              <a:gd name="adj" fmla="val 8065"/>
            </a:avLst>
          </a:prstGeom>
          <a:solidFill>
            <a:srgbClr val="E8F4F8"/>
          </a:solidFill>
          <a:ln w="12700">
            <a:solidFill>
              <a:srgbClr val="D29922"/>
            </a:solidFill>
            <a:prstDash val="solid"/>
          </a:ln>
        </p:spPr>
        <p:txBody>
          <a:bodyPr/>
          <a:p/>
        </p:txBody>
      </p:sp>
      <p:sp>
        <p:nvSpPr>
          <p:cNvPr id="33" name="Text 31"/>
          <p:cNvSpPr/>
          <p:nvPr/>
        </p:nvSpPr>
        <p:spPr>
          <a:xfrm>
            <a:off x="5394960" y="336499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29922"/>
                </a:solidFill>
              </a:rPr>
              <a:t>OpenRouter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394960" y="3639312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8FA8"/>
                </a:solidFill>
              </a:rPr>
              <a:t>Any model via OpenRouter API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5303520" y="4005072"/>
            <a:ext cx="3383280" cy="566928"/>
          </a:xfrm>
          <a:prstGeom prst="roundRect">
            <a:avLst>
              <a:gd name="adj" fmla="val 8065"/>
            </a:avLst>
          </a:prstGeom>
          <a:solidFill>
            <a:srgbClr val="E8F4F8"/>
          </a:solidFill>
          <a:ln w="12700">
            <a:solidFill>
              <a:srgbClr val="6B8FA8"/>
            </a:solidFill>
            <a:prstDash val="solid"/>
          </a:ln>
        </p:spPr>
        <p:txBody>
          <a:bodyPr/>
          <a:p/>
        </p:txBody>
      </p:sp>
      <p:sp>
        <p:nvSpPr>
          <p:cNvPr id="36" name="Text 34"/>
          <p:cNvSpPr/>
          <p:nvPr/>
        </p:nvSpPr>
        <p:spPr>
          <a:xfrm>
            <a:off x="5394960" y="40233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8FA8"/>
                </a:solidFill>
              </a:rPr>
              <a:t>LM Studio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5394960" y="4297680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8FA8"/>
                </a:solidFill>
              </a:rPr>
              <a:t>Local models, OpenAI-compatible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B2A4A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GitHub Integration &amp; Collaboration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1097280" cy="1097280"/>
          </a:xfrm>
          <a:prstGeom prst="ellipse">
            <a:avLst/>
          </a:prstGeom>
          <a:solidFill>
            <a:srgbClr val="0B2A4A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365760" y="100584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Admin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Publishes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834640" y="1005840"/>
            <a:ext cx="1097280" cy="1097280"/>
          </a:xfrm>
          <a:prstGeom prst="ellipse">
            <a:avLst/>
          </a:prstGeom>
          <a:solidFill>
            <a:srgbClr val="00788A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834640" y="100584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GitHub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Repo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303520" y="1005840"/>
            <a:ext cx="1097280" cy="1097280"/>
          </a:xfrm>
          <a:prstGeom prst="ellipse">
            <a:avLst/>
          </a:prstGeom>
          <a:solidFill>
            <a:srgbClr val="0B2A4A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5303520" y="100584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Team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Fetches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7772400" y="1005840"/>
            <a:ext cx="1097280" cy="1097280"/>
          </a:xfrm>
          <a:prstGeom prst="ellipse">
            <a:avLst/>
          </a:prstGeom>
          <a:solidFill>
            <a:srgbClr val="3FB950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7772400" y="100584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Merge &amp;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Explore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1481328" y="1508760"/>
            <a:ext cx="1280160" cy="274320"/>
          </a:xfrm>
          <a:prstGeom prst="rightArrow">
            <a:avLst/>
          </a:prstGeom>
          <a:solidFill>
            <a:srgbClr val="00A5BA"/>
          </a:solidFill>
          <a:ln w="12700">
            <a:solidFill>
              <a:srgbClr val="00A5BA"/>
            </a:solidFill>
            <a:prstDash val="solid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3950208" y="1508760"/>
            <a:ext cx="1280160" cy="274320"/>
          </a:xfrm>
          <a:prstGeom prst="rightArrow">
            <a:avLst/>
          </a:prstGeom>
          <a:solidFill>
            <a:srgbClr val="00A5BA"/>
          </a:solidFill>
          <a:ln w="12700">
            <a:solidFill>
              <a:srgbClr val="00A5BA"/>
            </a:solidFill>
            <a:prstDash val="solid"/>
          </a:ln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6419088" y="1508760"/>
            <a:ext cx="1280160" cy="274320"/>
          </a:xfrm>
          <a:prstGeom prst="rightArrow">
            <a:avLst/>
          </a:prstGeom>
          <a:solidFill>
            <a:srgbClr val="00A5BA"/>
          </a:solidFill>
          <a:ln w="12700">
            <a:solidFill>
              <a:srgbClr val="00A5BA"/>
            </a:solidFill>
            <a:prstDash val="solid"/>
          </a:ln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320040" y="2423160"/>
            <a:ext cx="4206240" cy="1115568"/>
          </a:xfrm>
          <a:prstGeom prst="roundRect">
            <a:avLst>
              <a:gd name="adj" fmla="val 5738"/>
            </a:avLst>
          </a:prstGeom>
          <a:solidFill>
            <a:srgbClr val="F0F7FA"/>
          </a:solidFill>
          <a:ln w="12700">
            <a:solidFill>
              <a:srgbClr val="D0EBF2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411480" y="2496312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788A"/>
                </a:solidFill>
              </a:rPr>
              <a:t>📥 Fetch all enabled sources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11480" y="2862072"/>
            <a:ext cx="4023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8FA8"/>
                </a:solidFill>
              </a:rPr>
              <a:t>Pulls main dashboard.json from GitHub. Tick 'Also auto-pull user slices' to include all contributors.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754880" y="2423160"/>
            <a:ext cx="4206240" cy="1115568"/>
          </a:xfrm>
          <a:prstGeom prst="roundRect">
            <a:avLst>
              <a:gd name="adj" fmla="val 5738"/>
            </a:avLst>
          </a:prstGeom>
          <a:solidFill>
            <a:srgbClr val="F0F7FA"/>
          </a:solidFill>
          <a:ln w="12700">
            <a:solidFill>
              <a:srgbClr val="D0EBF2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4846320" y="2496312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788A"/>
                </a:solidFill>
              </a:rPr>
              <a:t>🔁 Replace whole dashboard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846320" y="2862072"/>
            <a:ext cx="4023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8FA8"/>
                </a:solidFill>
              </a:rPr>
              <a:t>Overwrites local data with fetched content. Tick the ☑ backup checkbox next to the button to auto-save a backup first.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20040" y="3657600"/>
            <a:ext cx="4206240" cy="1115568"/>
          </a:xfrm>
          <a:prstGeom prst="roundRect">
            <a:avLst>
              <a:gd name="adj" fmla="val 5738"/>
            </a:avLst>
          </a:prstGeom>
          <a:solidFill>
            <a:srgbClr val="F0F7FA"/>
          </a:solidFill>
          <a:ln w="12700">
            <a:solidFill>
              <a:srgbClr val="D0EBF2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411480" y="3730752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788A"/>
                </a:solidFill>
              </a:rPr>
              <a:t>📤 Publish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11480" y="4096512"/>
            <a:ext cx="4023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8FA8"/>
                </a:solidFill>
              </a:rPr>
              <a:t>Commits your dashboard.json and all file changes to GitHub (Admin only).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754880" y="3657600"/>
            <a:ext cx="4206240" cy="1115568"/>
          </a:xfrm>
          <a:prstGeom prst="roundRect">
            <a:avLst>
              <a:gd name="adj" fmla="val 5738"/>
            </a:avLst>
          </a:prstGeom>
          <a:solidFill>
            <a:srgbClr val="F0F7FA"/>
          </a:solidFill>
          <a:ln w="12700">
            <a:solidFill>
              <a:srgbClr val="D0EBF2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4846320" y="3730752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788A"/>
                </a:solidFill>
              </a:rPr>
              <a:t>🔍 Discover user slices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846320" y="4096512"/>
            <a:ext cx="4023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8FA8"/>
                </a:solidFill>
              </a:rPr>
              <a:t>Scans users/ folder for contributor dashboards to pull.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B2A4A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Roles &amp; Access Control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822960"/>
            <a:ext cx="2651760" cy="4114800"/>
          </a:xfrm>
          <a:prstGeom prst="roundRect">
            <a:avLst>
              <a:gd name="adj" fmla="val 2759"/>
            </a:avLst>
          </a:prstGeom>
          <a:solidFill>
            <a:srgbClr val="F0F7FA"/>
          </a:solidFill>
          <a:ln w="25400">
            <a:solidFill>
              <a:srgbClr val="6B8FA8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320040" y="822960"/>
            <a:ext cx="2651760" cy="658368"/>
          </a:xfrm>
          <a:prstGeom prst="roundRect">
            <a:avLst>
              <a:gd name="adj" fmla="val 11111"/>
            </a:avLst>
          </a:prstGeom>
          <a:solidFill>
            <a:srgbClr val="6B8FA8"/>
          </a:solidFill>
          <a:ln w="12700">
            <a:solidFill>
              <a:srgbClr val="6B8FA8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393192" y="822960"/>
            <a:ext cx="25054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👁 Read-only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93192" y="1188720"/>
            <a:ext cx="2505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FFFFFF"/>
                </a:solidFill>
              </a:rPr>
              <a:t>Default for all users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29768" y="160020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8FA8"/>
                </a:solidFill>
              </a:rPr>
              <a:t>✓ </a:t>
            </a:r>
            <a:pPr indent="0" marL="0">
              <a:buNone/>
            </a:pPr>
            <a:r>
              <a:rPr lang="en-US" sz="1000" dirty="0">
                <a:solidFill>
                  <a:srgbClr val="0B2A4A"/>
                </a:solidFill>
              </a:rPr>
              <a:t>Browse all platforms and BBs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29768" y="2020824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8FA8"/>
                </a:solidFill>
              </a:rPr>
              <a:t>✓ </a:t>
            </a:r>
            <a:pPr indent="0" marL="0">
              <a:buNone/>
            </a:pPr>
            <a:r>
              <a:rPr lang="en-US" sz="1000" dirty="0">
                <a:solidFill>
                  <a:srgbClr val="0B2A4A"/>
                </a:solidFill>
              </a:rPr>
              <a:t>View GDS layouts, S-matrix data, documents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29768" y="2441448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8FA8"/>
                </a:solidFill>
              </a:rPr>
              <a:t>✓ </a:t>
            </a:r>
            <a:pPr indent="0" marL="0">
              <a:buNone/>
            </a:pPr>
            <a:r>
              <a:rPr lang="en-US" sz="1000" dirty="0">
                <a:solidFill>
                  <a:srgbClr val="0B2A4A"/>
                </a:solidFill>
              </a:rPr>
              <a:t>Run Python scripts (Pyodide sandbox)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29768" y="2862072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8FA8"/>
                </a:solidFill>
              </a:rPr>
              <a:t>✓ </a:t>
            </a:r>
            <a:pPr indent="0" marL="0">
              <a:buNone/>
            </a:pPr>
            <a:r>
              <a:rPr lang="en-US" sz="1000" dirty="0">
                <a:solidFill>
                  <a:srgbClr val="0B2A4A"/>
                </a:solidFill>
              </a:rPr>
              <a:t>Download files and export dashboard.json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29768" y="3282696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8FA8"/>
                </a:solidFill>
              </a:rPr>
              <a:t>✓ </a:t>
            </a:r>
            <a:pPr indent="0" marL="0">
              <a:buNone/>
            </a:pPr>
            <a:r>
              <a:rPr lang="en-US" sz="1000" dirty="0">
                <a:solidFill>
                  <a:srgbClr val="0B2A4A"/>
                </a:solidFill>
              </a:rPr>
              <a:t>Replace whole dashboard (from fetched data)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29768" y="370332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8FA8"/>
                </a:solidFill>
              </a:rPr>
              <a:t>✓ </a:t>
            </a:r>
            <a:pPr indent="0" marL="0">
              <a:buNone/>
            </a:pPr>
            <a:r>
              <a:rPr lang="en-US" sz="1000" dirty="0">
                <a:solidFill>
                  <a:srgbClr val="0B2A4A"/>
                </a:solidFill>
              </a:rPr>
              <a:t>Use the AI Agent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154680" y="822960"/>
            <a:ext cx="2651760" cy="4114800"/>
          </a:xfrm>
          <a:prstGeom prst="roundRect">
            <a:avLst>
              <a:gd name="adj" fmla="val 2759"/>
            </a:avLst>
          </a:prstGeom>
          <a:solidFill>
            <a:srgbClr val="F0F7FA"/>
          </a:solidFill>
          <a:ln w="25400">
            <a:solidFill>
              <a:srgbClr val="D29922"/>
            </a:solidFill>
            <a:prstDash val="solid"/>
          </a:ln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3154680" y="822960"/>
            <a:ext cx="2651760" cy="658368"/>
          </a:xfrm>
          <a:prstGeom prst="roundRect">
            <a:avLst>
              <a:gd name="adj" fmla="val 11111"/>
            </a:avLst>
          </a:prstGeom>
          <a:solidFill>
            <a:srgbClr val="D29922"/>
          </a:solidFill>
          <a:ln w="12700">
            <a:solidFill>
              <a:srgbClr val="D29922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3227832" y="822960"/>
            <a:ext cx="25054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👤 User-admin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227832" y="1188720"/>
            <a:ext cx="2505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FFFFFF"/>
                </a:solidFill>
              </a:rPr>
              <a:t>Your own users/&lt;id&gt;/ folder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264408" y="160020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29922"/>
                </a:solidFill>
              </a:rPr>
              <a:t>✓ </a:t>
            </a:r>
            <a:pPr indent="0" marL="0">
              <a:buNone/>
            </a:pPr>
            <a:r>
              <a:rPr lang="en-US" sz="1000" dirty="0">
                <a:solidFill>
                  <a:srgbClr val="0B2A4A"/>
                </a:solidFill>
              </a:rPr>
              <a:t>All Read-only permissions +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264408" y="2020824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29922"/>
                </a:solidFill>
              </a:rPr>
              <a:t>✓ </a:t>
            </a:r>
            <a:pPr indent="0" marL="0">
              <a:buNone/>
            </a:pPr>
            <a:r>
              <a:rPr lang="en-US" sz="1000" dirty="0">
                <a:solidFill>
                  <a:srgbClr val="0B2A4A"/>
                </a:solidFill>
              </a:rPr>
              <a:t>Add / edit / remove BBs in your slice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264408" y="2441448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29922"/>
                </a:solidFill>
              </a:rPr>
              <a:t>✓ </a:t>
            </a:r>
            <a:pPr indent="0" marL="0">
              <a:buNone/>
            </a:pPr>
            <a:r>
              <a:rPr lang="en-US" sz="1000" dirty="0">
                <a:solidFill>
                  <a:srgbClr val="0B2A4A"/>
                </a:solidFill>
              </a:rPr>
              <a:t>Publish your own users/&lt;id&gt;/ to GitHub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264408" y="2862072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29922"/>
                </a:solidFill>
              </a:rPr>
              <a:t>✓ </a:t>
            </a:r>
            <a:pPr indent="0" marL="0">
              <a:buNone/>
            </a:pPr>
            <a:r>
              <a:rPr lang="en-US" sz="1000" dirty="0">
                <a:solidFill>
                  <a:srgbClr val="0B2A4A"/>
                </a:solidFill>
              </a:rPr>
              <a:t>Wipe your repo folder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264408" y="3282696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29922"/>
                </a:solidFill>
              </a:rPr>
              <a:t>✓ </a:t>
            </a:r>
            <a:pPr indent="0" marL="0">
              <a:buNone/>
            </a:pPr>
            <a:r>
              <a:rPr lang="en-US" sz="1000" dirty="0">
                <a:solidFill>
                  <a:srgbClr val="0B2A4A"/>
                </a:solidFill>
              </a:rPr>
              <a:t>Sign in with a dedicated identity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989320" y="822960"/>
            <a:ext cx="2651760" cy="4114800"/>
          </a:xfrm>
          <a:prstGeom prst="roundRect">
            <a:avLst>
              <a:gd name="adj" fmla="val 2759"/>
            </a:avLst>
          </a:prstGeom>
          <a:solidFill>
            <a:srgbClr val="F0F7FA"/>
          </a:solidFill>
          <a:ln w="25400">
            <a:solidFill>
              <a:srgbClr val="00788A"/>
            </a:solidFill>
            <a:prstDash val="solid"/>
          </a:ln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>
            <a:off x="5989320" y="822960"/>
            <a:ext cx="2651760" cy="658368"/>
          </a:xfrm>
          <a:prstGeom prst="roundRect">
            <a:avLst>
              <a:gd name="adj" fmla="val 11111"/>
            </a:avLst>
          </a:prstGeom>
          <a:solidFill>
            <a:srgbClr val="00788A"/>
          </a:solidFill>
          <a:ln w="12700">
            <a:solidFill>
              <a:srgbClr val="00788A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6062472" y="822960"/>
            <a:ext cx="25054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🔑 Admin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062472" y="1188720"/>
            <a:ext cx="2505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FFFFFF"/>
                </a:solidFill>
              </a:rPr>
              <a:t>Full control (set in HTML)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099048" y="160020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788A"/>
                </a:solidFill>
              </a:rPr>
              <a:t>✓ </a:t>
            </a:r>
            <a:pPr indent="0" marL="0">
              <a:buNone/>
            </a:pPr>
            <a:r>
              <a:rPr lang="en-US" sz="1000" dirty="0">
                <a:solidFill>
                  <a:srgbClr val="0B2A4A"/>
                </a:solidFill>
              </a:rPr>
              <a:t>All User-admin permissions +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099048" y="2020824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788A"/>
                </a:solidFill>
              </a:rPr>
              <a:t>✓ </a:t>
            </a:r>
            <a:pPr indent="0" marL="0">
              <a:buNone/>
            </a:pPr>
            <a:r>
              <a:rPr lang="en-US" sz="1000" dirty="0">
                <a:solidFill>
                  <a:srgbClr val="0B2A4A"/>
                </a:solidFill>
              </a:rPr>
              <a:t>Edit all BBs and platforms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099048" y="2441448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788A"/>
                </a:solidFill>
              </a:rPr>
              <a:t>✓ </a:t>
            </a:r>
            <a:pPr indent="0" marL="0">
              <a:buNone/>
            </a:pPr>
            <a:r>
              <a:rPr lang="en-US" sz="1000" dirty="0">
                <a:solidFill>
                  <a:srgbClr val="0B2A4A"/>
                </a:solidFill>
              </a:rPr>
              <a:t>Manage users and access control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099048" y="2862072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788A"/>
                </a:solidFill>
              </a:rPr>
              <a:t>✓ </a:t>
            </a:r>
            <a:pPr indent="0" marL="0">
              <a:buNone/>
            </a:pPr>
            <a:r>
              <a:rPr lang="en-US" sz="1000" dirty="0">
                <a:solidFill>
                  <a:srgbClr val="0B2A4A"/>
                </a:solidFill>
              </a:rPr>
              <a:t>Configure sources and distribution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099048" y="3282696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788A"/>
                </a:solidFill>
              </a:rPr>
              <a:t>✓ </a:t>
            </a:r>
            <a:pPr indent="0" marL="0">
              <a:buNone/>
            </a:pPr>
            <a:r>
              <a:rPr lang="en-US" sz="1000" dirty="0">
                <a:solidFill>
                  <a:srgbClr val="0B2A4A"/>
                </a:solidFill>
              </a:rPr>
              <a:t>Manage lists (statuses, categories, layers…)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099048" y="370332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788A"/>
                </a:solidFill>
              </a:rPr>
              <a:t>✓ </a:t>
            </a:r>
            <a:pPr indent="0" marL="0">
              <a:buNone/>
            </a:pPr>
            <a:r>
              <a:rPr lang="en-US" sz="1000" dirty="0">
                <a:solidFill>
                  <a:srgbClr val="0B2A4A"/>
                </a:solidFill>
              </a:rPr>
              <a:t>Full publish to main repo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320040" y="4892040"/>
            <a:ext cx="8503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B8FA8"/>
                </a:solidFill>
              </a:rPr>
              <a:t>To enable Admin mode: open pdk-monitor.html in a text editor → follow the comment at the top of the &lt;script&gt; block.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0788A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Tips, Troubleshooting &amp; Community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841248"/>
            <a:ext cx="4206240" cy="1060704"/>
          </a:xfrm>
          <a:prstGeom prst="roundRect">
            <a:avLst>
              <a:gd name="adj" fmla="val 6034"/>
            </a:avLst>
          </a:prstGeom>
          <a:solidFill>
            <a:srgbClr val="F0F7FA"/>
          </a:solidFill>
          <a:ln w="12700">
            <a:solidFill>
              <a:srgbClr val="D0EBF2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429768" y="950976"/>
            <a:ext cx="365760" cy="365760"/>
          </a:xfrm>
          <a:prstGeom prst="ellipse">
            <a:avLst/>
          </a:prstGeom>
          <a:solidFill>
            <a:srgbClr val="00788A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429768" y="95097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BCK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86968" y="932688"/>
            <a:ext cx="35295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A4A"/>
                </a:solidFill>
              </a:rPr>
              <a:t>Back up often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84632" y="137160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8FA8"/>
                </a:solidFill>
              </a:rPr>
              <a:t>Use Backup (.json) in the header before big changes, or enable GitHub publish.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754880" y="841248"/>
            <a:ext cx="4206240" cy="1060704"/>
          </a:xfrm>
          <a:prstGeom prst="roundRect">
            <a:avLst>
              <a:gd name="adj" fmla="val 6034"/>
            </a:avLst>
          </a:prstGeom>
          <a:solidFill>
            <a:srgbClr val="F0F7FA"/>
          </a:solidFill>
          <a:ln w="12700">
            <a:solidFill>
              <a:srgbClr val="D0EBF2"/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4864608" y="950976"/>
            <a:ext cx="365760" cy="365760"/>
          </a:xfrm>
          <a:prstGeom prst="ellipse">
            <a:avLst/>
          </a:prstGeom>
          <a:solidFill>
            <a:srgbClr val="00788A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864608" y="95097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RLD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321808" y="932688"/>
            <a:ext cx="35295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A4A"/>
                </a:solidFill>
              </a:rPr>
              <a:t>Hard reload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919472" y="137160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8FA8"/>
                </a:solidFill>
              </a:rPr>
              <a:t>If the dashboard looks broken, press Cmd+Shift+R (Mac) or Ctrl+Shift+R (Windows).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0040" y="2011680"/>
            <a:ext cx="4206240" cy="1060704"/>
          </a:xfrm>
          <a:prstGeom prst="roundRect">
            <a:avLst>
              <a:gd name="adj" fmla="val 6034"/>
            </a:avLst>
          </a:prstGeom>
          <a:solidFill>
            <a:srgbClr val="F0F7FA"/>
          </a:solidFill>
          <a:ln w="12700">
            <a:solidFill>
              <a:srgbClr val="D0EBF2"/>
            </a:solidFill>
            <a:prstDash val="solid"/>
          </a:ln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429768" y="2121408"/>
            <a:ext cx="365760" cy="365760"/>
          </a:xfrm>
          <a:prstGeom prst="ellipse">
            <a:avLst/>
          </a:prstGeom>
          <a:solidFill>
            <a:srgbClr val="00788A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429768" y="21214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KEY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86968" y="2103120"/>
            <a:ext cx="35295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A4A"/>
                </a:solidFill>
              </a:rPr>
              <a:t>Rate limits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84632" y="2542032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8FA8"/>
                </a:solidFill>
              </a:rPr>
              <a:t>If the AI returns 429, collapse the file panel to reduce tokens per message.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754880" y="2011680"/>
            <a:ext cx="4206240" cy="1060704"/>
          </a:xfrm>
          <a:prstGeom prst="roundRect">
            <a:avLst>
              <a:gd name="adj" fmla="val 6034"/>
            </a:avLst>
          </a:prstGeom>
          <a:solidFill>
            <a:srgbClr val="F0F7FA"/>
          </a:solidFill>
          <a:ln w="12700">
            <a:solidFill>
              <a:srgbClr val="D0EBF2"/>
            </a:solidFill>
            <a:prstDash val="solid"/>
          </a:ln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4864608" y="2121408"/>
            <a:ext cx="365760" cy="365760"/>
          </a:xfrm>
          <a:prstGeom prst="ellipse">
            <a:avLst/>
          </a:prstGeom>
          <a:solidFill>
            <a:srgbClr val="00788A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4864608" y="21214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FLD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321808" y="2103120"/>
            <a:ext cx="35295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A4A"/>
                </a:solidFill>
              </a:rPr>
              <a:t>Fetch all files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919472" y="2542032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8FA8"/>
                </a:solidFill>
              </a:rPr>
              <a:t>Folder URLs fetch up to 3 levels deep and skip binaries (GDS, images, executables).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20040" y="3291840"/>
            <a:ext cx="8503920" cy="1600200"/>
          </a:xfrm>
          <a:prstGeom prst="roundRect">
            <a:avLst>
              <a:gd name="adj" fmla="val 5714"/>
            </a:avLst>
          </a:prstGeom>
          <a:solidFill>
            <a:srgbClr val="0B2A4A"/>
          </a:solidFill>
          <a:ln w="25400">
            <a:solidFill>
              <a:srgbClr val="00A5BA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457200" y="3401568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A5BA"/>
                </a:solidFill>
              </a:rPr>
              <a:t>Join the Open Integrated Photonics Community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457200" y="3913632"/>
            <a:ext cx="2697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D0EBF2"/>
                </a:solidFill>
              </a:rPr>
              <a:t>🐙 Open Platform GitHub  </a:t>
            </a:r>
            <a:pPr algn="ctr" indent="0" marL="0">
              <a:buNone/>
            </a:pPr>
            <a:r>
              <a:rPr lang="en-US" sz="950" i="1" dirty="0">
                <a:solidFill>
                  <a:srgbClr val="6B8FA8"/>
                </a:solidFill>
              </a:rPr>
              <a:t>github.com/cornerstone-uos/cornerstone-community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3246120" y="3913632"/>
            <a:ext cx="2697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D0EBF2"/>
                </a:solidFill>
              </a:rPr>
              <a:t>📦 PDK Monitor GitHub  </a:t>
            </a:r>
            <a:pPr algn="ctr" indent="0" marL="0">
              <a:buNone/>
            </a:pPr>
            <a:r>
              <a:rPr lang="en-US" sz="950" i="1" dirty="0">
                <a:solidFill>
                  <a:srgbClr val="6B8FA8"/>
                </a:solidFill>
              </a:rPr>
              <a:t>github.com/cornerstone-uos/PDKMonitor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6035040" y="3913632"/>
            <a:ext cx="2697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D0EBF2"/>
                </a:solidFill>
              </a:rPr>
              <a:t>🌐 Website  </a:t>
            </a:r>
            <a:pPr algn="ctr" indent="0" marL="0">
              <a:buNone/>
            </a:pPr>
            <a:r>
              <a:rPr lang="en-US" sz="950" i="1" dirty="0">
                <a:solidFill>
                  <a:srgbClr val="6B8FA8"/>
                </a:solidFill>
              </a:rPr>
              <a:t>cornerstone.sotonfab.co.uk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81E3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-731520" y="3200400"/>
            <a:ext cx="3657600" cy="3657600"/>
          </a:xfrm>
          <a:prstGeom prst="ellipse">
            <a:avLst/>
          </a:prstGeom>
          <a:solidFill>
            <a:srgbClr val="00788A"/>
          </a:solidFill>
          <a:ln w="12700">
            <a:solidFill>
              <a:srgbClr val="00788A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7498080" y="-731520"/>
            <a:ext cx="2743200" cy="2743200"/>
          </a:xfrm>
          <a:prstGeom prst="ellipse">
            <a:avLst/>
          </a:prstGeom>
          <a:solidFill>
            <a:srgbClr val="00A5BA"/>
          </a:solidFill>
          <a:ln w="12700">
            <a:solidFill>
              <a:srgbClr val="00A5BA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914400" y="91440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Ready to explore?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914400" y="17373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D0EBF2"/>
                </a:solidFill>
              </a:rPr>
              <a:t>Open pdk-monitor.html in your browser — that's it.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237744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8FA8"/>
                </a:solidFill>
              </a:rPr>
              <a:t>Open to everyone — </a:t>
            </a:r>
            <a:pPr algn="ctr" indent="0" marL="0">
              <a:buNone/>
            </a:pPr>
            <a:r>
              <a:rPr lang="en-US" sz="1400" b="1" dirty="0">
                <a:solidFill>
                  <a:srgbClr val="00A5BA"/>
                </a:solidFill>
              </a:rPr>
              <a:t>let's build the open integrated photonics community together!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0" y="4297680"/>
            <a:ext cx="9144000" cy="845820"/>
          </a:xfrm>
          <a:prstGeom prst="rect">
            <a:avLst/>
          </a:prstGeom>
          <a:solidFill>
            <a:srgbClr val="00788A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74320" y="4389120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CORNERSTONE PDK Monitor v1.1.1  ·  Emre Kaplan, University of Southampton  ·  pdk.cornerstone.soton.ac.uk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CORNERSTONE PDK Monitor — Introduction</dc:title>
  <dc:subject>PptxGenJS Presentation</dc:subject>
  <dc:creator>Emre Kaplan, University of Southampton</dc:creator>
  <cp:lastModifiedBy>Emre Kaplan, University of Southampton</cp:lastModifiedBy>
  <cp:revision>1</cp:revision>
  <dcterms:created xsi:type="dcterms:W3CDTF">2026-05-29T12:34:17Z</dcterms:created>
  <dcterms:modified xsi:type="dcterms:W3CDTF">2026-05-29T12:34:17Z</dcterms:modified>
</cp:coreProperties>
</file>